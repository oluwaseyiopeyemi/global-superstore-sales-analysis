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5449"/>
    <a:srgbClr val="3B4540"/>
    <a:srgbClr val="FFFFFF"/>
    <a:srgbClr val="CCE6D1"/>
    <a:srgbClr val="E8F3E8"/>
    <a:srgbClr val="0F766E"/>
    <a:srgbClr val="F4F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edex\Desktop\Data%20Internship\1.Professional%20Identity%20Architecture%20-%20Global%20SuperStore%20Dictionary\Global%20Superstore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edex\Desktop\Data%20Internship\1.Professional%20Identity%20Architecture%20-%20Global%20SuperStore%20Dictionary\Global%20Superstore%20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edex\Desktop\Data%20Internship\1.Professional%20Identity%20Architecture%20-%20Global%20SuperStore%20Dictionary\Global%20Superstore%20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[Global Superstore Project.xlsx]Analysis!PivotTable5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050" b="0" i="0" u="none" strike="noStrike" kern="1200" spc="0" baseline="0">
                <a:solidFill>
                  <a:srgbClr val="111827"/>
                </a:solidFill>
                <a:latin typeface="+mn-lt"/>
                <a:ea typeface="+mn-ea"/>
                <a:cs typeface="+mn-cs"/>
              </a:defRPr>
            </a:pPr>
            <a:r>
              <a:rPr lang="en-US" sz="1050">
                <a:solidFill>
                  <a:srgbClr val="111827"/>
                </a:solidFill>
              </a:rPr>
              <a:t>Sales</a:t>
            </a:r>
            <a:r>
              <a:rPr lang="en-US" sz="1050" baseline="0">
                <a:solidFill>
                  <a:srgbClr val="111827"/>
                </a:solidFill>
              </a:rPr>
              <a:t> Trend</a:t>
            </a:r>
            <a:endParaRPr lang="en-US" sz="1050">
              <a:solidFill>
                <a:srgbClr val="111827"/>
              </a:solidFill>
            </a:endParaRPr>
          </a:p>
        </c:rich>
      </c:tx>
      <c:layout>
        <c:manualLayout>
          <c:xMode val="edge"/>
          <c:yMode val="edge"/>
          <c:x val="2.2394653735627375E-2"/>
          <c:y val="3.23232323232323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spc="0" baseline="0">
              <a:solidFill>
                <a:srgbClr val="111827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222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222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2225" cap="rnd">
            <a:solidFill>
              <a:srgbClr val="94A3B8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2225" cap="rnd">
            <a:solidFill>
              <a:srgbClr val="0F766E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222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222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2225" cap="rnd">
            <a:solidFill>
              <a:srgbClr val="94A3B8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2225" cap="rnd">
            <a:solidFill>
              <a:srgbClr val="0F766E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2225" cap="rnd">
            <a:solidFill>
              <a:schemeClr val="accent1">
                <a:alpha val="68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2225" cap="rnd">
            <a:solidFill>
              <a:srgbClr val="CBD5E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2225" cap="rnd">
            <a:solidFill>
              <a:srgbClr val="94A3B8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2225" cap="rnd">
            <a:solidFill>
              <a:srgbClr val="0F766E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2225" cap="rnd">
            <a:solidFill>
              <a:schemeClr val="accent1">
                <a:alpha val="68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2225" cap="rnd">
            <a:solidFill>
              <a:srgbClr val="CBD5E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2225" cap="rnd">
            <a:solidFill>
              <a:srgbClr val="94A3B8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2225" cap="rnd">
            <a:solidFill>
              <a:srgbClr val="0F766E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2225" cap="rnd">
            <a:solidFill>
              <a:schemeClr val="accent1">
                <a:alpha val="68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2225" cap="rnd">
            <a:solidFill>
              <a:srgbClr val="CBD5E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2225" cap="rnd">
            <a:solidFill>
              <a:srgbClr val="94A3B8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2225" cap="rnd">
            <a:solidFill>
              <a:srgbClr val="0F766E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22225" cap="rnd">
            <a:solidFill>
              <a:schemeClr val="accent1">
                <a:alpha val="68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2225" cap="rnd">
            <a:solidFill>
              <a:srgbClr val="CBD5E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22225" cap="rnd">
            <a:solidFill>
              <a:srgbClr val="94A3B8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22225" cap="rnd">
            <a:solidFill>
              <a:srgbClr val="0F766E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22225" cap="rnd">
            <a:solidFill>
              <a:schemeClr val="accent1">
                <a:alpha val="68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22225" cap="rnd">
            <a:solidFill>
              <a:srgbClr val="CBD5E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22225" cap="rnd">
            <a:solidFill>
              <a:srgbClr val="94A3B8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22225" cap="rnd">
            <a:solidFill>
              <a:srgbClr val="0F766E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4309997808019928"/>
          <c:y val="0.27314902303878685"/>
          <c:w val="0.83262256821900771"/>
          <c:h val="0.57723417906095076"/>
        </c:manualLayout>
      </c:layout>
      <c:lineChart>
        <c:grouping val="standard"/>
        <c:varyColors val="0"/>
        <c:ser>
          <c:idx val="0"/>
          <c:order val="0"/>
          <c:tx>
            <c:strRef>
              <c:f>Analysis!$B$19:$B$20</c:f>
              <c:strCache>
                <c:ptCount val="1"/>
                <c:pt idx="0">
                  <c:v>2011</c:v>
                </c:pt>
              </c:strCache>
            </c:strRef>
          </c:tx>
          <c:spPr>
            <a:ln w="22225" cap="rnd">
              <a:solidFill>
                <a:schemeClr val="accent1">
                  <a:alpha val="68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Analysis!$A$21:$A$33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Analysis!$B$21:$B$33</c:f>
              <c:numCache>
                <c:formatCode>[&gt;=1000000]"$"0.00,,"M";[&gt;=1000]"$"0.00,"K";"$"0.0</c:formatCode>
                <c:ptCount val="12"/>
                <c:pt idx="0">
                  <c:v>98902</c:v>
                </c:pt>
                <c:pt idx="1">
                  <c:v>91152</c:v>
                </c:pt>
                <c:pt idx="2">
                  <c:v>145726</c:v>
                </c:pt>
                <c:pt idx="3">
                  <c:v>116927</c:v>
                </c:pt>
                <c:pt idx="4">
                  <c:v>146762</c:v>
                </c:pt>
                <c:pt idx="5">
                  <c:v>215214</c:v>
                </c:pt>
                <c:pt idx="6">
                  <c:v>115518</c:v>
                </c:pt>
                <c:pt idx="7">
                  <c:v>207570</c:v>
                </c:pt>
                <c:pt idx="8">
                  <c:v>290230</c:v>
                </c:pt>
                <c:pt idx="9">
                  <c:v>199070</c:v>
                </c:pt>
                <c:pt idx="10">
                  <c:v>298499</c:v>
                </c:pt>
                <c:pt idx="11">
                  <c:v>333941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0AA-46F2-80A4-D06BC7C36B2E}"/>
            </c:ext>
          </c:extLst>
        </c:ser>
        <c:ser>
          <c:idx val="1"/>
          <c:order val="1"/>
          <c:tx>
            <c:strRef>
              <c:f>Analysis!$C$19:$C$20</c:f>
              <c:strCache>
                <c:ptCount val="1"/>
                <c:pt idx="0">
                  <c:v>2012</c:v>
                </c:pt>
              </c:strCache>
            </c:strRef>
          </c:tx>
          <c:spPr>
            <a:ln w="22225" cap="rnd">
              <a:solidFill>
                <a:srgbClr val="CBD5E1"/>
              </a:solidFill>
              <a:round/>
            </a:ln>
            <a:effectLst/>
          </c:spPr>
          <c:marker>
            <c:symbol val="none"/>
          </c:marker>
          <c:cat>
            <c:strRef>
              <c:f>Analysis!$A$21:$A$33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Analysis!$C$21:$C$33</c:f>
              <c:numCache>
                <c:formatCode>[&gt;=1000000]"$"0.00,,"M";[&gt;=1000]"$"0.00,"K";"$"0.0</c:formatCode>
                <c:ptCount val="12"/>
                <c:pt idx="0">
                  <c:v>135775</c:v>
                </c:pt>
                <c:pt idx="1">
                  <c:v>100521</c:v>
                </c:pt>
                <c:pt idx="2">
                  <c:v>163092</c:v>
                </c:pt>
                <c:pt idx="3">
                  <c:v>161060</c:v>
                </c:pt>
                <c:pt idx="4">
                  <c:v>208370</c:v>
                </c:pt>
                <c:pt idx="5">
                  <c:v>256181</c:v>
                </c:pt>
                <c:pt idx="6">
                  <c:v>145247</c:v>
                </c:pt>
                <c:pt idx="7">
                  <c:v>303158</c:v>
                </c:pt>
                <c:pt idx="8">
                  <c:v>289390</c:v>
                </c:pt>
                <c:pt idx="9">
                  <c:v>252942</c:v>
                </c:pt>
                <c:pt idx="10">
                  <c:v>323512</c:v>
                </c:pt>
                <c:pt idx="11">
                  <c:v>338245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0AA-46F2-80A4-D06BC7C36B2E}"/>
            </c:ext>
          </c:extLst>
        </c:ser>
        <c:ser>
          <c:idx val="2"/>
          <c:order val="2"/>
          <c:tx>
            <c:strRef>
              <c:f>Analysis!$D$19:$D$20</c:f>
              <c:strCache>
                <c:ptCount val="1"/>
                <c:pt idx="0">
                  <c:v>2013</c:v>
                </c:pt>
              </c:strCache>
            </c:strRef>
          </c:tx>
          <c:spPr>
            <a:ln w="22225" cap="rnd">
              <a:solidFill>
                <a:srgbClr val="94A3B8"/>
              </a:solidFill>
              <a:round/>
            </a:ln>
            <a:effectLst/>
          </c:spPr>
          <c:marker>
            <c:symbol val="none"/>
          </c:marker>
          <c:cat>
            <c:strRef>
              <c:f>Analysis!$A$21:$A$33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Analysis!$D$21:$D$33</c:f>
              <c:numCache>
                <c:formatCode>[&gt;=1000000]"$"0.00,,"M";[&gt;=1000]"$"0.00,"K";"$"0.0</c:formatCode>
                <c:ptCount val="12"/>
                <c:pt idx="0">
                  <c:v>199197</c:v>
                </c:pt>
                <c:pt idx="1">
                  <c:v>167247</c:v>
                </c:pt>
                <c:pt idx="2">
                  <c:v>198591</c:v>
                </c:pt>
                <c:pt idx="3">
                  <c:v>177835</c:v>
                </c:pt>
                <c:pt idx="4">
                  <c:v>260525</c:v>
                </c:pt>
                <c:pt idx="5">
                  <c:v>396513</c:v>
                </c:pt>
                <c:pt idx="6">
                  <c:v>229940</c:v>
                </c:pt>
                <c:pt idx="7">
                  <c:v>326491</c:v>
                </c:pt>
                <c:pt idx="8">
                  <c:v>376626</c:v>
                </c:pt>
                <c:pt idx="9">
                  <c:v>293423</c:v>
                </c:pt>
                <c:pt idx="10">
                  <c:v>373996</c:v>
                </c:pt>
                <c:pt idx="11">
                  <c:v>405476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0AA-46F2-80A4-D06BC7C36B2E}"/>
            </c:ext>
          </c:extLst>
        </c:ser>
        <c:ser>
          <c:idx val="3"/>
          <c:order val="3"/>
          <c:tx>
            <c:strRef>
              <c:f>Analysis!$E$19:$E$20</c:f>
              <c:strCache>
                <c:ptCount val="1"/>
                <c:pt idx="0">
                  <c:v>2014</c:v>
                </c:pt>
              </c:strCache>
            </c:strRef>
          </c:tx>
          <c:spPr>
            <a:ln w="22225" cap="rnd">
              <a:solidFill>
                <a:srgbClr val="0F766E"/>
              </a:solidFill>
              <a:round/>
            </a:ln>
            <a:effectLst/>
          </c:spPr>
          <c:marker>
            <c:symbol val="none"/>
          </c:marker>
          <c:cat>
            <c:strRef>
              <c:f>Analysis!$A$21:$A$33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Analysis!$E$21:$E$33</c:f>
              <c:numCache>
                <c:formatCode>[&gt;=1000000]"$"0.00,,"M";[&gt;=1000]"$"0.00,"K";"$"0.0</c:formatCode>
                <c:ptCount val="12"/>
                <c:pt idx="0">
                  <c:v>241267</c:v>
                </c:pt>
                <c:pt idx="1">
                  <c:v>184848</c:v>
                </c:pt>
                <c:pt idx="2">
                  <c:v>263110</c:v>
                </c:pt>
                <c:pt idx="3">
                  <c:v>242781</c:v>
                </c:pt>
                <c:pt idx="4">
                  <c:v>288404</c:v>
                </c:pt>
                <c:pt idx="5">
                  <c:v>401843</c:v>
                </c:pt>
                <c:pt idx="6">
                  <c:v>258718</c:v>
                </c:pt>
                <c:pt idx="7">
                  <c:v>456633</c:v>
                </c:pt>
                <c:pt idx="8">
                  <c:v>481186</c:v>
                </c:pt>
                <c:pt idx="9">
                  <c:v>422785</c:v>
                </c:pt>
                <c:pt idx="10">
                  <c:v>555312</c:v>
                </c:pt>
                <c:pt idx="11">
                  <c:v>503154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0AA-46F2-80A4-D06BC7C36B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05390703"/>
        <c:axId val="1105391183"/>
      </c:lineChart>
      <c:catAx>
        <c:axId val="1105390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11827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105391183"/>
        <c:crosses val="autoZero"/>
        <c:auto val="1"/>
        <c:lblAlgn val="ctr"/>
        <c:lblOffset val="100"/>
        <c:noMultiLvlLbl val="0"/>
      </c:catAx>
      <c:valAx>
        <c:axId val="1105391183"/>
        <c:scaling>
          <c:orientation val="minMax"/>
        </c:scaling>
        <c:delete val="0"/>
        <c:axPos val="l"/>
        <c:majorGridlines>
          <c:spPr>
            <a:ln w="317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[&gt;=1000000]&quot;$&quot;0.00,,&quot;M&quot;;[&gt;=1000]&quot;$&quot;0.00,&quot;K&quot;;&quot;$&quot;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11827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105390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46167523643528852"/>
          <c:y val="3.3050505050505052E-2"/>
          <c:w val="0.51933858267716537"/>
          <c:h val="0.16060701503221189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111827"/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[Global Superstore Project.xlsx]Analysis!PivotTable1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050" b="0" i="0" u="none" strike="noStrike" kern="1200" spc="0" baseline="0">
                <a:solidFill>
                  <a:srgbClr val="111827"/>
                </a:solidFill>
                <a:latin typeface="+mn-lt"/>
                <a:ea typeface="+mn-ea"/>
                <a:cs typeface="+mn-cs"/>
              </a:defRPr>
            </a:pPr>
            <a:r>
              <a:rPr lang="en-US" sz="1050">
                <a:solidFill>
                  <a:srgbClr val="111827"/>
                </a:solidFill>
              </a:rPr>
              <a:t>Profit by Region</a:t>
            </a:r>
          </a:p>
        </c:rich>
      </c:tx>
      <c:layout>
        <c:manualLayout>
          <c:xMode val="edge"/>
          <c:yMode val="edge"/>
          <c:x val="3.9120295201775075E-2"/>
          <c:y val="6.984126984126984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spc="0" baseline="0">
              <a:solidFill>
                <a:srgbClr val="111827"/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0F766E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0F766E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0F766E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Analysis!$I$28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F766E"/>
            </a:solidFill>
            <a:ln>
              <a:noFill/>
            </a:ln>
            <a:effectLst/>
          </c:spPr>
          <c:invertIfNegative val="0"/>
          <c:cat>
            <c:strRef>
              <c:f>Analysis!$H$29:$H$42</c:f>
              <c:strCache>
                <c:ptCount val="13"/>
                <c:pt idx="0">
                  <c:v>Central</c:v>
                </c:pt>
                <c:pt idx="1">
                  <c:v>North</c:v>
                </c:pt>
                <c:pt idx="2">
                  <c:v>North Asia</c:v>
                </c:pt>
                <c:pt idx="3">
                  <c:v>South</c:v>
                </c:pt>
                <c:pt idx="4">
                  <c:v>Central Asia</c:v>
                </c:pt>
                <c:pt idx="5">
                  <c:v>Oceania</c:v>
                </c:pt>
                <c:pt idx="6">
                  <c:v>West</c:v>
                </c:pt>
                <c:pt idx="7">
                  <c:v>East</c:v>
                </c:pt>
                <c:pt idx="8">
                  <c:v>Africa</c:v>
                </c:pt>
                <c:pt idx="9">
                  <c:v>EMEA</c:v>
                </c:pt>
                <c:pt idx="10">
                  <c:v>Caribbean</c:v>
                </c:pt>
                <c:pt idx="11">
                  <c:v>Southeast Asia</c:v>
                </c:pt>
                <c:pt idx="12">
                  <c:v>Canada</c:v>
                </c:pt>
              </c:strCache>
            </c:strRef>
          </c:cat>
          <c:val>
            <c:numRef>
              <c:f>Analysis!$I$29:$I$42</c:f>
              <c:numCache>
                <c:formatCode>[&gt;=1000000]"$"0.00,,"M";[&gt;=1000]"$"0.00,"K";"$"0.0</c:formatCode>
                <c:ptCount val="13"/>
                <c:pt idx="0">
                  <c:v>311403.8</c:v>
                </c:pt>
                <c:pt idx="1">
                  <c:v>194598.1</c:v>
                </c:pt>
                <c:pt idx="2">
                  <c:v>165578.39000000001</c:v>
                </c:pt>
                <c:pt idx="3">
                  <c:v>140355.76</c:v>
                </c:pt>
                <c:pt idx="4">
                  <c:v>132480.17000000001</c:v>
                </c:pt>
                <c:pt idx="5">
                  <c:v>120088.93</c:v>
                </c:pt>
                <c:pt idx="6">
                  <c:v>108418.3</c:v>
                </c:pt>
                <c:pt idx="7">
                  <c:v>91522.55</c:v>
                </c:pt>
                <c:pt idx="8">
                  <c:v>88871.48</c:v>
                </c:pt>
                <c:pt idx="9">
                  <c:v>43897.98</c:v>
                </c:pt>
                <c:pt idx="10">
                  <c:v>34571.339999999997</c:v>
                </c:pt>
                <c:pt idx="11">
                  <c:v>17852.45</c:v>
                </c:pt>
                <c:pt idx="12">
                  <c:v>17817.39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7C-4E5D-8F61-41CEBE2622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05397903"/>
        <c:axId val="1105380623"/>
      </c:barChart>
      <c:catAx>
        <c:axId val="1105397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11827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105380623"/>
        <c:crosses val="autoZero"/>
        <c:auto val="1"/>
        <c:lblAlgn val="ctr"/>
        <c:lblOffset val="100"/>
        <c:noMultiLvlLbl val="0"/>
      </c:catAx>
      <c:valAx>
        <c:axId val="1105380623"/>
        <c:scaling>
          <c:orientation val="minMax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[&gt;=1000000]&quot;$&quot;0.00,,&quot;M&quot;;[&gt;=1000]&quot;$&quot;0.00,&quot;K&quot;;&quot;$&quot;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11827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105397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[Global Superstore Project.xlsx]Analysis!PivotTable7</c:name>
    <c:fmtId val="11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rgbClr val="111827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0F766E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rgbClr val="94A3B8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rgbClr val="CBD5E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rgbClr val="111827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0F766E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rgbClr val="94A3B8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rgbClr val="CBD5E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rgbClr val="111827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rgbClr val="0F766E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rgbClr val="94A3B8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rgbClr val="CBD5E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Analysis!$B$56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0F766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7C1-46D8-8C80-544991A8CBD4}"/>
              </c:ext>
            </c:extLst>
          </c:dPt>
          <c:dPt>
            <c:idx val="1"/>
            <c:bubble3D val="0"/>
            <c:spPr>
              <a:solidFill>
                <a:srgbClr val="94A3B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7C1-46D8-8C80-544991A8CBD4}"/>
              </c:ext>
            </c:extLst>
          </c:dPt>
          <c:dPt>
            <c:idx val="2"/>
            <c:bubble3D val="0"/>
            <c:spPr>
              <a:solidFill>
                <a:srgbClr val="CBD5E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7C1-46D8-8C80-544991A8CBD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111827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Analysis!$A$57:$A$60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Analysis!$B$57:$B$60</c:f>
              <c:numCache>
                <c:formatCode>[&gt;=1000000]"$"0.00,,"M";[&gt;=1000]"$"0.00,"K";"$"0.0</c:formatCode>
                <c:ptCount val="3"/>
                <c:pt idx="0">
                  <c:v>4744691</c:v>
                </c:pt>
                <c:pt idx="1">
                  <c:v>4110884</c:v>
                </c:pt>
                <c:pt idx="2">
                  <c:v>3787330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7C1-46D8-8C80-544991A8CBD4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49DC3-737D-454C-81F8-D9214FB8C6E0}" type="datetimeFigureOut">
              <a:rPr lang="en-NG" smtClean="0"/>
              <a:t>08/02/2026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DBAAB3-2566-4B8B-AF70-C3384174F921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254018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DBAAB3-2566-4B8B-AF70-C3384174F921}" type="slidenum">
              <a:rPr lang="en-NG" smtClean="0"/>
              <a:t>6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674348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1CC40-C9AB-B9A4-6B7B-DCF3B3A09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EC8930-81A6-8C80-91DD-94CDC3546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A599F-8B46-21BA-400E-19F60D6FD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C42D-4FDC-4C45-9388-655F7387D26E}" type="datetimeFigureOut">
              <a:rPr lang="en-NG" smtClean="0"/>
              <a:t>08/02/2026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D1156-D0F7-7F60-060C-ADABB49A9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56C14-A439-36D2-DE5D-A9CD11EED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EACC9-B340-40C1-ABBB-9EC09A688FC1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81394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2AA2B-64DE-57E7-6374-1EA3B3784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8DFD7-CEE6-897A-F20E-0E2F7BB6C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C9353-52EC-28AF-D430-1848372F4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C42D-4FDC-4C45-9388-655F7387D26E}" type="datetimeFigureOut">
              <a:rPr lang="en-NG" smtClean="0"/>
              <a:t>08/02/2026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83857-CF43-7925-CA02-49A7CB6B9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E5547-3517-4641-A438-2CF9A6570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EACC9-B340-40C1-ABBB-9EC09A688FC1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880789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96A83-1CA1-AC98-73BC-1C433EE12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00CC9-6137-B5BC-274F-21E81B40C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85979-7554-A8DF-D6B1-6FB23BAA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C42D-4FDC-4C45-9388-655F7387D26E}" type="datetimeFigureOut">
              <a:rPr lang="en-NG" smtClean="0"/>
              <a:t>08/02/2026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4F263-5F1A-5C79-D3F0-D978669E7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BF67A-02A7-2B70-2D83-ACA49C55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EACC9-B340-40C1-ABBB-9EC09A688FC1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012647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3CCEF-DCDF-A4D5-7BE3-59684AFEB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B0E35-BA69-54FF-4722-1FEEF2F2D3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B56F56-5435-F625-F6D5-0F771EC6F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B7511-4142-7C1E-4DC0-1D3A822BF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C42D-4FDC-4C45-9388-655F7387D26E}" type="datetimeFigureOut">
              <a:rPr lang="en-NG" smtClean="0"/>
              <a:t>08/02/2026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A078E-504F-507D-44B5-EC7158064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F7B37-BFE2-B162-7F2A-81F7DE686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EACC9-B340-40C1-ABBB-9EC09A688FC1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79975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2A80C-293C-C941-34C2-AB840D752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F73D4-388A-5147-1683-926FB9772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13B2D-FF58-3551-1366-C8143E73C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8FA68-092A-5E54-92B2-6A9556E40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E94D90-F2A0-2865-092A-8E6B1930F9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36D452-0222-747B-4BBC-CB20D1D57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C42D-4FDC-4C45-9388-655F7387D26E}" type="datetimeFigureOut">
              <a:rPr lang="en-NG" smtClean="0"/>
              <a:t>08/02/2026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8573C8-17BA-A539-EA2F-9AB4C4416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6A9748-F5CC-239C-6FE3-5F8406D0E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EACC9-B340-40C1-ABBB-9EC09A688FC1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5857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866B1-4E85-0CBF-F193-3B273E7E9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A1B902-67AE-09A6-8DEB-E9B59B32C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C42D-4FDC-4C45-9388-655F7387D26E}" type="datetimeFigureOut">
              <a:rPr lang="en-NG" smtClean="0"/>
              <a:t>08/02/2026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CD1FCF-85F5-405A-4DEF-B83A06DE6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F5021-D247-BA98-1457-D59716133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EACC9-B340-40C1-ABBB-9EC09A688FC1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627618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9A3E9-0FB3-FBE5-7235-5EF94DFDF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C42D-4FDC-4C45-9388-655F7387D26E}" type="datetimeFigureOut">
              <a:rPr lang="en-NG" smtClean="0"/>
              <a:t>08/02/2026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6C685D-97B5-648B-2451-35AD30918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E1765-8AA6-68DF-60B3-D90A41C47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EACC9-B340-40C1-ABBB-9EC09A688FC1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88699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8C5D-5939-1103-70A4-00E804604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06EAC-0B0F-A1D2-2B76-C5668F35D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C363B-8A35-32C4-ADCC-AA1BF8F74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2ED2E-905A-6344-9904-D0C17C92B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C42D-4FDC-4C45-9388-655F7387D26E}" type="datetimeFigureOut">
              <a:rPr lang="en-NG" smtClean="0"/>
              <a:t>08/02/2026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3B763-A878-5905-C190-9452E145F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45DF7-BCF3-5700-A002-C29E798B7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EACC9-B340-40C1-ABBB-9EC09A688FC1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381121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F11EE-D132-502D-914C-7C701D83C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EF22CB-1AA4-B6A4-E3E0-038FBE21A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284AA-D5CD-24A0-107C-5AEF36E15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220AF-12CB-D4D1-E5FB-08D98E507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C42D-4FDC-4C45-9388-655F7387D26E}" type="datetimeFigureOut">
              <a:rPr lang="en-NG" smtClean="0"/>
              <a:t>08/02/2026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3299E-500A-BF25-0F7F-13B9BE7D1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D3CA9-094F-24AC-24FB-8055AB3B1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EACC9-B340-40C1-ABBB-9EC09A688FC1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010448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E0AC6-0D41-8F5B-3B5E-6C4F1CB9A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C6D8D5-8238-67AC-D17F-D9428C68B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30019-DCD5-9714-39BE-3E6EA4888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C42D-4FDC-4C45-9388-655F7387D26E}" type="datetimeFigureOut">
              <a:rPr lang="en-NG" smtClean="0"/>
              <a:t>08/02/2026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D21D3-845D-D6A5-457A-0A075B2E6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47487-7467-4C04-B643-F6F9726CB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EACC9-B340-40C1-ABBB-9EC09A688FC1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75854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EEC76D-7AD1-0C97-E89A-6453F8081B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6C31A-3694-591A-581C-9391FD456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9D756-C58B-EAF1-AB63-195A29DDA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C42D-4FDC-4C45-9388-655F7387D26E}" type="datetimeFigureOut">
              <a:rPr lang="en-NG" smtClean="0"/>
              <a:t>08/02/2026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D3043-F55D-93ED-C2BD-6C1BA80FB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621D3-7907-B5D6-F268-9F0B5941E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EACC9-B340-40C1-ABBB-9EC09A688FC1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288636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6D5EE0-F56C-A979-2969-4A23831D1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6392F-A96B-72A5-1618-4988AFF44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D002C-54C2-B162-8FD0-37763BD163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6C42D-4FDC-4C45-9388-655F7387D26E}" type="datetimeFigureOut">
              <a:rPr lang="en-NG" smtClean="0"/>
              <a:t>08/02/2026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66267-A0DE-F4D8-AE2A-4472528B49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01A7F-4AA4-80AC-9F0D-BB5E6E36EA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EACC9-B340-40C1-ABBB-9EC09A688FC1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31100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749FC-B12D-5392-3AB2-22E79E5D1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4882" y="1964695"/>
            <a:ext cx="6360458" cy="1361049"/>
          </a:xfrm>
        </p:spPr>
        <p:txBody>
          <a:bodyPr>
            <a:noAutofit/>
          </a:bodyPr>
          <a:lstStyle/>
          <a:p>
            <a:pPr algn="l"/>
            <a:r>
              <a:rPr lang="en-US" sz="4400" b="1" dirty="0">
                <a:solidFill>
                  <a:srgbClr val="3B4540"/>
                </a:solidFill>
                <a:latin typeface="Fraunces 72pt SuperSoft SemiBol" pitchFamily="2" charset="0"/>
              </a:rPr>
              <a:t>Global Superstore Sales Performance Analysis</a:t>
            </a:r>
            <a:endParaRPr lang="en-NG" sz="4400" b="1" dirty="0">
              <a:solidFill>
                <a:srgbClr val="3B4540"/>
              </a:solidFill>
              <a:latin typeface="Fraunces 72pt SuperSoft SemiBol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93C6D-9D0D-A1CB-5229-34560C24A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2671" y="3623045"/>
            <a:ext cx="7409329" cy="978131"/>
          </a:xfrm>
        </p:spPr>
        <p:txBody>
          <a:bodyPr>
            <a:normAutofit fontScale="92500"/>
          </a:bodyPr>
          <a:lstStyle/>
          <a:p>
            <a:pPr algn="l"/>
            <a:r>
              <a:rPr lang="en-US" sz="1800" dirty="0">
                <a:solidFill>
                  <a:srgbClr val="405449"/>
                </a:solidFill>
                <a:latin typeface="Nobile" panose="02000503050000020004" pitchFamily="2" charset="0"/>
              </a:rPr>
              <a:t>Sales, profit, and customer insights from 2011 to 2014. A comprehensive review of four years of transaction data to identify growth opportunities and optimize business performance.</a:t>
            </a:r>
            <a:endParaRPr lang="en-NG" sz="1800" dirty="0">
              <a:solidFill>
                <a:srgbClr val="405449"/>
              </a:solidFill>
              <a:latin typeface="Nobile" panose="02000503050000020004" pitchFamily="2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DFEEA09-097C-DECE-CC67-92C0D90EC4FB}"/>
              </a:ext>
            </a:extLst>
          </p:cNvPr>
          <p:cNvSpPr txBox="1">
            <a:spLocks/>
          </p:cNvSpPr>
          <p:nvPr/>
        </p:nvSpPr>
        <p:spPr>
          <a:xfrm>
            <a:off x="4724882" y="4864818"/>
            <a:ext cx="6521688" cy="406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dirty="0">
                <a:solidFill>
                  <a:srgbClr val="405449"/>
                </a:solidFill>
                <a:latin typeface="Nobile" panose="02000503050000020004" pitchFamily="2" charset="0"/>
              </a:rPr>
              <a:t>Prepared by: Oluwaseyi | Data Analyst | Microsoft Excel</a:t>
            </a:r>
            <a:endParaRPr lang="en-NG" sz="1600" dirty="0">
              <a:solidFill>
                <a:srgbClr val="405449"/>
              </a:solidFill>
              <a:latin typeface="Nobile" panose="02000503050000020004" pitchFamily="2" charset="0"/>
            </a:endParaRP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842F1011-305C-39A5-E46A-72F810F85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568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548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4BBC1-F575-08C7-5524-959A61931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2C79B-A494-10BF-B830-73B31D9A6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7643" y="353336"/>
            <a:ext cx="9056714" cy="978131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405449"/>
                </a:solidFill>
                <a:latin typeface="Fraunces 72pt SuperSoft SemiBol" pitchFamily="2" charset="0"/>
              </a:rPr>
              <a:t>Business Objective &amp; Dataset Overview</a:t>
            </a:r>
            <a:endParaRPr lang="en-NG" sz="40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A52D9EC9-D05B-18D5-1F2B-0A76DA9F5B64}"/>
              </a:ext>
            </a:extLst>
          </p:cNvPr>
          <p:cNvSpPr/>
          <p:nvPr/>
        </p:nvSpPr>
        <p:spPr>
          <a:xfrm>
            <a:off x="660670" y="1709635"/>
            <a:ext cx="5323271" cy="2082433"/>
          </a:xfrm>
          <a:prstGeom prst="roundRect">
            <a:avLst>
              <a:gd name="adj" fmla="val 6944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NG" dirty="0">
              <a:solidFill>
                <a:srgbClr val="E8F3E8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62C18B5-BD34-D3AA-EDB9-2CA05DF6C0D9}"/>
              </a:ext>
            </a:extLst>
          </p:cNvPr>
          <p:cNvSpPr txBox="1">
            <a:spLocks/>
          </p:cNvSpPr>
          <p:nvPr/>
        </p:nvSpPr>
        <p:spPr>
          <a:xfrm>
            <a:off x="776569" y="2332789"/>
            <a:ext cx="1724584" cy="3301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405449"/>
                </a:solidFill>
                <a:latin typeface="Fraunces 72pt SuperSoft SemiBol" pitchFamily="2" charset="0"/>
              </a:rPr>
              <a:t>Objective</a:t>
            </a:r>
            <a:endParaRPr lang="en-NG" sz="20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E4A7427D-58F5-F46E-1997-6D3147150592}"/>
              </a:ext>
            </a:extLst>
          </p:cNvPr>
          <p:cNvSpPr/>
          <p:nvPr/>
        </p:nvSpPr>
        <p:spPr>
          <a:xfrm>
            <a:off x="6208059" y="1709634"/>
            <a:ext cx="5323271" cy="2082433"/>
          </a:xfrm>
          <a:prstGeom prst="roundRect">
            <a:avLst>
              <a:gd name="adj" fmla="val 6944"/>
            </a:avLst>
          </a:prstGeom>
          <a:solidFill>
            <a:srgbClr val="E8F3E8"/>
          </a:solidFill>
          <a:ln/>
        </p:spPr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A1E1DCE-C53F-BC8A-74FD-C81ABCE2F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569" y="2750850"/>
            <a:ext cx="5091471" cy="857111"/>
          </a:xfrm>
        </p:spPr>
        <p:txBody>
          <a:bodyPr>
            <a:normAutofit/>
          </a:bodyPr>
          <a:lstStyle/>
          <a:p>
            <a:pPr algn="l"/>
            <a:r>
              <a:rPr lang="en-US" sz="1600" dirty="0">
                <a:solidFill>
                  <a:srgbClr val="405449"/>
                </a:solidFill>
                <a:latin typeface="Nobile" panose="02000503050000020004" pitchFamily="2" charset="0"/>
              </a:rPr>
              <a:t>Comprehensively analyze sales transactions to identify emerging trends, profitability drivers, and underperforming business areas.</a:t>
            </a:r>
            <a:endParaRPr lang="en-NG" sz="1600" dirty="0">
              <a:solidFill>
                <a:srgbClr val="405449"/>
              </a:solidFill>
              <a:latin typeface="Nobile" panose="02000503050000020004" pitchFamily="2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584EEF2-7FBF-F5FF-0F97-3F57E0DDB604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538" y="1823058"/>
            <a:ext cx="421776" cy="421776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EFCC9A56-CE16-E0F8-445F-BE46DC678826}"/>
              </a:ext>
            </a:extLst>
          </p:cNvPr>
          <p:cNvSpPr txBox="1">
            <a:spLocks/>
          </p:cNvSpPr>
          <p:nvPr/>
        </p:nvSpPr>
        <p:spPr>
          <a:xfrm>
            <a:off x="6323960" y="2332789"/>
            <a:ext cx="1724584" cy="3301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405449"/>
                </a:solidFill>
                <a:latin typeface="Fraunces 72pt SuperSoft SemiBol" pitchFamily="2" charset="0"/>
              </a:rPr>
              <a:t>Objective</a:t>
            </a:r>
            <a:endParaRPr lang="en-NG" sz="20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D3F0B94-169A-AF91-FEFE-DA7618468CB6}"/>
              </a:ext>
            </a:extLst>
          </p:cNvPr>
          <p:cNvSpPr txBox="1">
            <a:spLocks/>
          </p:cNvSpPr>
          <p:nvPr/>
        </p:nvSpPr>
        <p:spPr>
          <a:xfrm>
            <a:off x="6323960" y="2750850"/>
            <a:ext cx="5091471" cy="8571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rgbClr val="405449"/>
                </a:solidFill>
                <a:latin typeface="Nobile" panose="02000503050000020004" pitchFamily="2" charset="0"/>
              </a:rPr>
              <a:t>Deliver actionable, data-driven insights to support informed decision-making across sales, inventory management, and marketing departments.</a:t>
            </a:r>
            <a:endParaRPr lang="en-NG" sz="1600" dirty="0">
              <a:solidFill>
                <a:srgbClr val="405449"/>
              </a:solidFill>
              <a:latin typeface="Nobile" panose="02000503050000020004" pitchFamily="2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8ED2A54-E254-64AD-9B27-31AD68DB978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929" y="1823058"/>
            <a:ext cx="421776" cy="42177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8A42C4B-D405-AB30-B42D-23B8D4A8858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538" y="4204622"/>
            <a:ext cx="421200" cy="421200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FE2B7668-B500-3BDF-E20E-3EDF70D0A002}"/>
              </a:ext>
            </a:extLst>
          </p:cNvPr>
          <p:cNvSpPr txBox="1">
            <a:spLocks/>
          </p:cNvSpPr>
          <p:nvPr/>
        </p:nvSpPr>
        <p:spPr>
          <a:xfrm>
            <a:off x="776567" y="4730304"/>
            <a:ext cx="2491067" cy="3301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405449"/>
                </a:solidFill>
                <a:latin typeface="Fraunces 72pt SuperSoft SemiBol" pitchFamily="2" charset="0"/>
              </a:rPr>
              <a:t>Dataset Foundation</a:t>
            </a:r>
            <a:endParaRPr lang="en-NG" sz="20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CA7394B5-80A6-6AA7-B400-264312CCCDA1}"/>
              </a:ext>
            </a:extLst>
          </p:cNvPr>
          <p:cNvSpPr txBox="1">
            <a:spLocks/>
          </p:cNvSpPr>
          <p:nvPr/>
        </p:nvSpPr>
        <p:spPr>
          <a:xfrm>
            <a:off x="776568" y="5148365"/>
            <a:ext cx="5091471" cy="8571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NG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>
                <a:solidFill>
                  <a:srgbClr val="405449"/>
                </a:solidFill>
                <a:latin typeface="Nobile" panose="02000503050000020004" pitchFamily="2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dirty="0"/>
              <a:t>Global Superstore sales data spanning four years (2011 - 2014), encompassing a comprehensive range of transactional records.</a:t>
            </a:r>
            <a:endParaRPr lang="en-NG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280F2FFD-DF86-B611-9CAE-F93C12407D4A}"/>
              </a:ext>
            </a:extLst>
          </p:cNvPr>
          <p:cNvSpPr txBox="1">
            <a:spLocks/>
          </p:cNvSpPr>
          <p:nvPr/>
        </p:nvSpPr>
        <p:spPr>
          <a:xfrm>
            <a:off x="6323959" y="4730304"/>
            <a:ext cx="2491067" cy="3301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405449"/>
                </a:solidFill>
                <a:latin typeface="Fraunces 72pt SuperSoft SemiBol" pitchFamily="2" charset="0"/>
              </a:rPr>
              <a:t>Key Data Fields</a:t>
            </a:r>
            <a:endParaRPr lang="en-NG" sz="20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7939F0F-1C0E-FFA4-C860-C0176CC903A2}"/>
              </a:ext>
            </a:extLst>
          </p:cNvPr>
          <p:cNvSpPr txBox="1">
            <a:spLocks/>
          </p:cNvSpPr>
          <p:nvPr/>
        </p:nvSpPr>
        <p:spPr>
          <a:xfrm>
            <a:off x="6323960" y="5148365"/>
            <a:ext cx="5576687" cy="8571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rgbClr val="405449"/>
                </a:solidFill>
                <a:latin typeface="Nobile" panose="02000503050000020004" pitchFamily="2" charset="0"/>
              </a:rPr>
              <a:t>Sales, profit, quantity, category, region, and customer segment - providing multidimensional insight into business performance</a:t>
            </a:r>
            <a:endParaRPr lang="en-NG" sz="1600" dirty="0">
              <a:solidFill>
                <a:srgbClr val="405449"/>
              </a:solidFill>
              <a:latin typeface="Nobile" panose="02000503050000020004" pitchFamily="2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2E29646-FE23-7178-B512-978D366A676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929" y="4200315"/>
            <a:ext cx="42120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991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50C79-D27B-7F45-F45A-A0EEB8544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5E56A-492C-DEE9-C0BC-FC1E8E9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998" y="363458"/>
            <a:ext cx="11476004" cy="978131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Fraunces 72pt SuperSoft SemiBol" pitchFamily="2" charset="0"/>
              </a:rPr>
              <a:t>Executive Summary: Key Performance Indicators</a:t>
            </a:r>
            <a:endParaRPr lang="en-NG" sz="4000" b="1" dirty="0">
              <a:latin typeface="Fraunces 72pt SuperSoft SemiBol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BDEFBBD-C26E-31A8-FBF1-1A58018C07C6}"/>
              </a:ext>
            </a:extLst>
          </p:cNvPr>
          <p:cNvSpPr txBox="1">
            <a:spLocks/>
          </p:cNvSpPr>
          <p:nvPr/>
        </p:nvSpPr>
        <p:spPr>
          <a:xfrm>
            <a:off x="9242612" y="1975459"/>
            <a:ext cx="2020422" cy="8571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405449"/>
                </a:solidFill>
                <a:latin typeface="Fraunces 72pt SuperSoft SemiBol" pitchFamily="2" charset="0"/>
              </a:rPr>
              <a:t>178,312</a:t>
            </a:r>
            <a:endParaRPr lang="en-NG" sz="32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227B72ED-884C-76D2-0F31-850D51897195}"/>
              </a:ext>
            </a:extLst>
          </p:cNvPr>
          <p:cNvSpPr txBox="1">
            <a:spLocks/>
          </p:cNvSpPr>
          <p:nvPr/>
        </p:nvSpPr>
        <p:spPr>
          <a:xfrm>
            <a:off x="507546" y="3764404"/>
            <a:ext cx="2863260" cy="806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405449"/>
                </a:solidFill>
                <a:latin typeface="Nobile" panose="02000503050000020004" pitchFamily="2" charset="0"/>
              </a:rPr>
              <a:t>Four-year cumulative revenue across all regions and product categories.</a:t>
            </a:r>
            <a:endParaRPr lang="en-NG" sz="1600" dirty="0">
              <a:solidFill>
                <a:srgbClr val="405449"/>
              </a:solidFill>
              <a:latin typeface="Nobile" panose="02000503050000020004" pitchFamily="2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F59AC20-5C71-C56A-592D-24C3FE54533A}"/>
              </a:ext>
            </a:extLst>
          </p:cNvPr>
          <p:cNvSpPr txBox="1">
            <a:spLocks/>
          </p:cNvSpPr>
          <p:nvPr/>
        </p:nvSpPr>
        <p:spPr>
          <a:xfrm>
            <a:off x="1211354" y="3079924"/>
            <a:ext cx="1455645" cy="3301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405449"/>
                </a:solidFill>
                <a:latin typeface="Fraunces 72pt SuperSoft SemiBol" pitchFamily="2" charset="0"/>
              </a:rPr>
              <a:t>Total Sales</a:t>
            </a:r>
            <a:endParaRPr lang="en-NG" sz="20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7AD3DE0-A01F-3ACC-07E7-FA6A4F5846F0}"/>
              </a:ext>
            </a:extLst>
          </p:cNvPr>
          <p:cNvSpPr/>
          <p:nvPr/>
        </p:nvSpPr>
        <p:spPr>
          <a:xfrm>
            <a:off x="625505" y="4813493"/>
            <a:ext cx="10940989" cy="1134220"/>
          </a:xfrm>
          <a:prstGeom prst="roundRect">
            <a:avLst>
              <a:gd name="adj" fmla="val 6944"/>
            </a:avLst>
          </a:prstGeom>
          <a:solidFill>
            <a:srgbClr val="CCE6D1"/>
          </a:solidFill>
          <a:ln/>
        </p:spPr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CD7688D-4A59-2736-671B-07F8A97AEBF5}"/>
              </a:ext>
            </a:extLst>
          </p:cNvPr>
          <p:cNvSpPr txBox="1">
            <a:spLocks/>
          </p:cNvSpPr>
          <p:nvPr/>
        </p:nvSpPr>
        <p:spPr>
          <a:xfrm>
            <a:off x="928966" y="1975459"/>
            <a:ext cx="2020422" cy="8571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405449"/>
                </a:solidFill>
                <a:latin typeface="Fraunces 72pt SuperSoft SemiBol" pitchFamily="2" charset="0"/>
              </a:rPr>
              <a:t>$12.64M</a:t>
            </a:r>
            <a:endParaRPr lang="en-NG" sz="32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FB01D55-E319-C9AD-4088-37FEAE1C74C7}"/>
              </a:ext>
            </a:extLst>
          </p:cNvPr>
          <p:cNvSpPr txBox="1">
            <a:spLocks/>
          </p:cNvSpPr>
          <p:nvPr/>
        </p:nvSpPr>
        <p:spPr>
          <a:xfrm>
            <a:off x="6471396" y="1975459"/>
            <a:ext cx="2020422" cy="8571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405449"/>
                </a:solidFill>
                <a:latin typeface="Fraunces 72pt SuperSoft SemiBol" pitchFamily="2" charset="0"/>
              </a:rPr>
              <a:t>11.61%</a:t>
            </a:r>
            <a:endParaRPr lang="en-NG" sz="32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7614361-69F5-6234-98E9-9863BBAA9B7E}"/>
              </a:ext>
            </a:extLst>
          </p:cNvPr>
          <p:cNvSpPr txBox="1">
            <a:spLocks/>
          </p:cNvSpPr>
          <p:nvPr/>
        </p:nvSpPr>
        <p:spPr>
          <a:xfrm>
            <a:off x="3700181" y="1975459"/>
            <a:ext cx="2020422" cy="8571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405449"/>
                </a:solidFill>
                <a:latin typeface="Fraunces 72pt SuperSoft SemiBol" pitchFamily="2" charset="0"/>
              </a:rPr>
              <a:t>$1.47M</a:t>
            </a:r>
            <a:endParaRPr lang="en-NG" sz="32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E9FD3CF-3BCC-6C1D-D3C7-17715EBA3250}"/>
              </a:ext>
            </a:extLst>
          </p:cNvPr>
          <p:cNvSpPr txBox="1">
            <a:spLocks/>
          </p:cNvSpPr>
          <p:nvPr/>
        </p:nvSpPr>
        <p:spPr>
          <a:xfrm>
            <a:off x="3841375" y="3079924"/>
            <a:ext cx="1738034" cy="3301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405449"/>
                </a:solidFill>
                <a:latin typeface="Fraunces 72pt SuperSoft SemiBol" pitchFamily="2" charset="0"/>
              </a:rPr>
              <a:t>Total Profit</a:t>
            </a:r>
            <a:endParaRPr lang="en-NG" sz="20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AE3A880-BB89-2B47-358A-BAFC30E2D99A}"/>
              </a:ext>
            </a:extLst>
          </p:cNvPr>
          <p:cNvSpPr txBox="1">
            <a:spLocks/>
          </p:cNvSpPr>
          <p:nvPr/>
        </p:nvSpPr>
        <p:spPr>
          <a:xfrm>
            <a:off x="6612590" y="3098894"/>
            <a:ext cx="1738034" cy="3301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405449"/>
                </a:solidFill>
                <a:latin typeface="Fraunces 72pt SuperSoft SemiBol" pitchFamily="2" charset="0"/>
              </a:rPr>
              <a:t>Profit Margin</a:t>
            </a:r>
            <a:endParaRPr lang="en-NG" sz="20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42037AC-2549-B13B-F6C4-83E7ADF756A1}"/>
              </a:ext>
            </a:extLst>
          </p:cNvPr>
          <p:cNvSpPr txBox="1">
            <a:spLocks/>
          </p:cNvSpPr>
          <p:nvPr/>
        </p:nvSpPr>
        <p:spPr>
          <a:xfrm>
            <a:off x="9525001" y="3060737"/>
            <a:ext cx="1455645" cy="3301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405449"/>
                </a:solidFill>
                <a:latin typeface="Fraunces 72pt SuperSoft SemiBol" pitchFamily="2" charset="0"/>
              </a:rPr>
              <a:t>Units Sold</a:t>
            </a:r>
            <a:endParaRPr lang="en-NG" sz="20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55485C97-A849-3567-3B48-F69227759B6A}"/>
              </a:ext>
            </a:extLst>
          </p:cNvPr>
          <p:cNvSpPr txBox="1">
            <a:spLocks/>
          </p:cNvSpPr>
          <p:nvPr/>
        </p:nvSpPr>
        <p:spPr>
          <a:xfrm>
            <a:off x="3196196" y="3764404"/>
            <a:ext cx="3028392" cy="806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405449"/>
                </a:solidFill>
                <a:latin typeface="Nobile" panose="02000503050000020004" pitchFamily="2" charset="0"/>
              </a:rPr>
              <a:t>Net earning demonstrating overall business profitability</a:t>
            </a:r>
            <a:endParaRPr lang="en-NG" sz="1600" dirty="0">
              <a:solidFill>
                <a:srgbClr val="405449"/>
              </a:solidFill>
              <a:latin typeface="Nobile" panose="02000503050000020004" pitchFamily="2" charset="0"/>
            </a:endParaRP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14BA8863-1120-D814-839D-8D7B78CFFE3E}"/>
              </a:ext>
            </a:extLst>
          </p:cNvPr>
          <p:cNvSpPr txBox="1">
            <a:spLocks/>
          </p:cNvSpPr>
          <p:nvPr/>
        </p:nvSpPr>
        <p:spPr>
          <a:xfrm>
            <a:off x="6055296" y="3764404"/>
            <a:ext cx="3028392" cy="806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405449"/>
                </a:solidFill>
                <a:latin typeface="Nobile" panose="02000503050000020004" pitchFamily="2" charset="0"/>
              </a:rPr>
              <a:t>Healthy margin indicating strong pricing and cost management</a:t>
            </a:r>
            <a:endParaRPr lang="en-NG" sz="1600" dirty="0">
              <a:solidFill>
                <a:srgbClr val="405449"/>
              </a:solidFill>
              <a:latin typeface="Nobile" panose="02000503050000020004" pitchFamily="2" charset="0"/>
            </a:endParaRP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0054C1D5-FCAD-5AA7-A002-52AFDB64A258}"/>
              </a:ext>
            </a:extLst>
          </p:cNvPr>
          <p:cNvSpPr txBox="1">
            <a:spLocks/>
          </p:cNvSpPr>
          <p:nvPr/>
        </p:nvSpPr>
        <p:spPr>
          <a:xfrm>
            <a:off x="8738627" y="3761730"/>
            <a:ext cx="3028392" cy="806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405449"/>
                </a:solidFill>
                <a:latin typeface="Nobile" panose="02000503050000020004" pitchFamily="2" charset="0"/>
              </a:rPr>
              <a:t>Total product quantity sold across all transactions</a:t>
            </a:r>
            <a:endParaRPr lang="en-NG" sz="1600" dirty="0">
              <a:solidFill>
                <a:srgbClr val="405449"/>
              </a:solidFill>
              <a:latin typeface="Nobile" panose="02000503050000020004" pitchFamily="2" charset="0"/>
            </a:endParaRPr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397198DB-D4B8-D233-5B6B-718A8A249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874" y="5002299"/>
            <a:ext cx="283488" cy="226814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2D5A4925-7BFF-A99D-3CC4-C283D5B809E5}"/>
              </a:ext>
            </a:extLst>
          </p:cNvPr>
          <p:cNvSpPr txBox="1">
            <a:spLocks/>
          </p:cNvSpPr>
          <p:nvPr/>
        </p:nvSpPr>
        <p:spPr>
          <a:xfrm>
            <a:off x="1152362" y="4977352"/>
            <a:ext cx="10170764" cy="806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rgbClr val="405449"/>
                </a:solidFill>
                <a:latin typeface="Nobile" panose="02000503050000020004" pitchFamily="2" charset="0"/>
              </a:rPr>
              <a:t>Key Insight: </a:t>
            </a:r>
            <a:r>
              <a:rPr lang="en-US" sz="1600" dirty="0">
                <a:solidFill>
                  <a:srgbClr val="405449"/>
                </a:solidFill>
                <a:latin typeface="Nobile" panose="02000503050000020004" pitchFamily="2" charset="0"/>
              </a:rPr>
              <a:t>The business demonstrates overall profitability with $1.47 million in total profit. However, performance varies significantly across different regions and product categories, presenting opportunities for strategic optimization.</a:t>
            </a:r>
            <a:endParaRPr lang="en-NG" sz="1600" b="1" dirty="0">
              <a:solidFill>
                <a:srgbClr val="405449"/>
              </a:solidFill>
              <a:latin typeface="Nobile" panose="02000503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399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4D283-6166-EE8A-DE8A-F41607348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87679-C8F3-79A1-C685-5BFF705AA6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6908" y="375322"/>
            <a:ext cx="6643437" cy="1134220"/>
          </a:xfrm>
        </p:spPr>
        <p:txBody>
          <a:bodyPr>
            <a:noAutofit/>
          </a:bodyPr>
          <a:lstStyle/>
          <a:p>
            <a:pPr algn="l"/>
            <a:r>
              <a:rPr lang="en-US" sz="4000" b="1" dirty="0">
                <a:solidFill>
                  <a:srgbClr val="405449"/>
                </a:solidFill>
                <a:latin typeface="Fraunces 72pt SuperSoft SemiBol" pitchFamily="2" charset="0"/>
              </a:rPr>
              <a:t>Sales &amp; Profit Performance Analysis</a:t>
            </a:r>
            <a:endParaRPr lang="en-NG" sz="40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3C1D931-EE8F-9969-7D6F-614EB3458311}"/>
              </a:ext>
            </a:extLst>
          </p:cNvPr>
          <p:cNvSpPr txBox="1">
            <a:spLocks/>
          </p:cNvSpPr>
          <p:nvPr/>
        </p:nvSpPr>
        <p:spPr>
          <a:xfrm>
            <a:off x="5416908" y="1846486"/>
            <a:ext cx="2353222" cy="3301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b="1" dirty="0">
                <a:solidFill>
                  <a:srgbClr val="405449"/>
                </a:solidFill>
                <a:latin typeface="Fraunces 72pt SuperSoft SemiBol" pitchFamily="2" charset="0"/>
              </a:rPr>
              <a:t>Sales Trend Analysis</a:t>
            </a:r>
            <a:endParaRPr lang="en-NG" sz="16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A3762A97-C05C-F2E0-0BF9-ECD87C00205A}"/>
              </a:ext>
            </a:extLst>
          </p:cNvPr>
          <p:cNvSpPr txBox="1">
            <a:spLocks/>
          </p:cNvSpPr>
          <p:nvPr/>
        </p:nvSpPr>
        <p:spPr>
          <a:xfrm>
            <a:off x="5416908" y="2296058"/>
            <a:ext cx="3028392" cy="98393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rgbClr val="405449"/>
                </a:solidFill>
                <a:latin typeface="Nobile" panose="02000503050000020004" pitchFamily="2" charset="0"/>
              </a:rPr>
              <a:t>Sales demonstrate steady year-over-year growth with consistent seasonal peaks during year-end holiday periods, indicating strong seasonal demand patterns.</a:t>
            </a:r>
            <a:endParaRPr lang="en-NG" sz="1600" dirty="0">
              <a:solidFill>
                <a:srgbClr val="405449"/>
              </a:solidFill>
              <a:latin typeface="Nobile" panose="02000503050000020004" pitchFamily="2" charset="0"/>
            </a:endParaRPr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F90C95ED-ED3F-19D2-8A1E-2889A169CE00}"/>
              </a:ext>
            </a:extLst>
          </p:cNvPr>
          <p:cNvSpPr/>
          <p:nvPr/>
        </p:nvSpPr>
        <p:spPr>
          <a:xfrm>
            <a:off x="5439769" y="5348458"/>
            <a:ext cx="6362699" cy="1134220"/>
          </a:xfrm>
          <a:prstGeom prst="roundRect">
            <a:avLst>
              <a:gd name="adj" fmla="val 7831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5B74BD0C-8512-9C36-81EA-BCA2DB7D449F}"/>
              </a:ext>
            </a:extLst>
          </p:cNvPr>
          <p:cNvSpPr/>
          <p:nvPr/>
        </p:nvSpPr>
        <p:spPr>
          <a:xfrm>
            <a:off x="5416908" y="5348458"/>
            <a:ext cx="76995" cy="1134220"/>
          </a:xfrm>
          <a:prstGeom prst="roundRect">
            <a:avLst>
              <a:gd name="adj" fmla="val 189767"/>
            </a:avLst>
          </a:prstGeom>
          <a:solidFill>
            <a:srgbClr val="438951"/>
          </a:solidFill>
          <a:ln/>
        </p:spPr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D41CF600-D42E-AC03-05E4-9A9438BE0C18}"/>
              </a:ext>
            </a:extLst>
          </p:cNvPr>
          <p:cNvSpPr/>
          <p:nvPr/>
        </p:nvSpPr>
        <p:spPr>
          <a:xfrm>
            <a:off x="5439769" y="4066508"/>
            <a:ext cx="6362699" cy="1134220"/>
          </a:xfrm>
          <a:prstGeom prst="roundRect">
            <a:avLst>
              <a:gd name="adj" fmla="val 7831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02261CFE-57BF-487F-5F27-E2BBA8B68570}"/>
              </a:ext>
            </a:extLst>
          </p:cNvPr>
          <p:cNvSpPr/>
          <p:nvPr/>
        </p:nvSpPr>
        <p:spPr>
          <a:xfrm>
            <a:off x="5416908" y="4066508"/>
            <a:ext cx="76995" cy="1134220"/>
          </a:xfrm>
          <a:prstGeom prst="roundRect">
            <a:avLst>
              <a:gd name="adj" fmla="val 189767"/>
            </a:avLst>
          </a:prstGeom>
          <a:solidFill>
            <a:srgbClr val="438951"/>
          </a:solidFill>
          <a:ln/>
        </p:spPr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63348235-7DEE-8357-A3E9-D8A568CAC170}"/>
              </a:ext>
            </a:extLst>
          </p:cNvPr>
          <p:cNvSpPr txBox="1">
            <a:spLocks/>
          </p:cNvSpPr>
          <p:nvPr/>
        </p:nvSpPr>
        <p:spPr>
          <a:xfrm>
            <a:off x="8774075" y="1842386"/>
            <a:ext cx="2812499" cy="3301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b="1" dirty="0">
                <a:solidFill>
                  <a:srgbClr val="405449"/>
                </a:solidFill>
                <a:latin typeface="Fraunces 72pt SuperSoft SemiBol" pitchFamily="2" charset="0"/>
              </a:rPr>
              <a:t>Regional Profit Distribution</a:t>
            </a:r>
            <a:endParaRPr lang="en-NG" sz="16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D7F2C5ED-2787-019F-C310-3C86AE5C438A}"/>
              </a:ext>
            </a:extLst>
          </p:cNvPr>
          <p:cNvSpPr txBox="1">
            <a:spLocks/>
          </p:cNvSpPr>
          <p:nvPr/>
        </p:nvSpPr>
        <p:spPr>
          <a:xfrm>
            <a:off x="8774075" y="2291958"/>
            <a:ext cx="3286269" cy="111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dirty="0">
                <a:solidFill>
                  <a:srgbClr val="405449"/>
                </a:solidFill>
                <a:latin typeface="Nobile" panose="02000503050000020004" pitchFamily="2" charset="0"/>
              </a:rPr>
              <a:t>Central and North regions contribute the highest profit margins. Some regions generate substantial sales volume but yield relatively lower profit percentages.</a:t>
            </a:r>
            <a:endParaRPr lang="en-NG" sz="1400" dirty="0">
              <a:solidFill>
                <a:srgbClr val="405449"/>
              </a:solidFill>
              <a:latin typeface="Nobile" panose="02000503050000020004" pitchFamily="2" charset="0"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4A83E039-DC30-35DB-A764-C9093B2B089E}"/>
              </a:ext>
            </a:extLst>
          </p:cNvPr>
          <p:cNvSpPr txBox="1">
            <a:spLocks/>
          </p:cNvSpPr>
          <p:nvPr/>
        </p:nvSpPr>
        <p:spPr>
          <a:xfrm>
            <a:off x="5516648" y="4176626"/>
            <a:ext cx="2353222" cy="3301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b="1" dirty="0">
                <a:solidFill>
                  <a:srgbClr val="405449"/>
                </a:solidFill>
                <a:latin typeface="Fraunces 72pt SuperSoft SemiBol" pitchFamily="2" charset="0"/>
              </a:rPr>
              <a:t>Growth Trajectory</a:t>
            </a:r>
            <a:endParaRPr lang="en-NG" sz="16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165B6DF4-D635-884F-198C-AA4581EA8E15}"/>
              </a:ext>
            </a:extLst>
          </p:cNvPr>
          <p:cNvSpPr txBox="1">
            <a:spLocks/>
          </p:cNvSpPr>
          <p:nvPr/>
        </p:nvSpPr>
        <p:spPr>
          <a:xfrm>
            <a:off x="5542386" y="4506732"/>
            <a:ext cx="6211598" cy="662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rgbClr val="405449"/>
                </a:solidFill>
                <a:latin typeface="Nobile" panose="02000503050000020004" pitchFamily="2" charset="0"/>
              </a:rPr>
              <a:t>Consistent revenue expansion across the four-year period, with accelerated growth in technology in technology and furniture categories.</a:t>
            </a:r>
            <a:endParaRPr lang="en-NG" sz="1200" dirty="0">
              <a:solidFill>
                <a:srgbClr val="405449"/>
              </a:solidFill>
              <a:latin typeface="Nobile" panose="02000503050000020004" pitchFamily="2" charset="0"/>
            </a:endParaRPr>
          </a:p>
        </p:txBody>
      </p:sp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FB177479-9688-4253-8818-A60FBDCDF2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914804"/>
              </p:ext>
            </p:extLst>
          </p:nvPr>
        </p:nvGraphicFramePr>
        <p:xfrm>
          <a:off x="158267" y="942432"/>
          <a:ext cx="5094253" cy="25930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A8503F5B-8451-4915-8294-5440687F06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8877620"/>
              </p:ext>
            </p:extLst>
          </p:nvPr>
        </p:nvGraphicFramePr>
        <p:xfrm>
          <a:off x="153086" y="3889612"/>
          <a:ext cx="5170344" cy="2593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" name="Title 1">
            <a:extLst>
              <a:ext uri="{FF2B5EF4-FFF2-40B4-BE49-F238E27FC236}">
                <a16:creationId xmlns:a16="http://schemas.microsoft.com/office/drawing/2014/main" id="{618C3226-B541-6BEA-A223-E732E677FDAF}"/>
              </a:ext>
            </a:extLst>
          </p:cNvPr>
          <p:cNvSpPr txBox="1">
            <a:spLocks/>
          </p:cNvSpPr>
          <p:nvPr/>
        </p:nvSpPr>
        <p:spPr>
          <a:xfrm>
            <a:off x="5516648" y="5489622"/>
            <a:ext cx="2353222" cy="3301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b="1" dirty="0">
                <a:solidFill>
                  <a:srgbClr val="405449"/>
                </a:solidFill>
                <a:latin typeface="Fraunces 72pt SuperSoft SemiBol" pitchFamily="2" charset="0"/>
              </a:rPr>
              <a:t>Regional Variance</a:t>
            </a:r>
            <a:endParaRPr lang="en-NG" sz="16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60C5C16F-443F-40C7-D980-AA790A01AF5F}"/>
              </a:ext>
            </a:extLst>
          </p:cNvPr>
          <p:cNvSpPr txBox="1">
            <a:spLocks/>
          </p:cNvSpPr>
          <p:nvPr/>
        </p:nvSpPr>
        <p:spPr>
          <a:xfrm>
            <a:off x="5542386" y="5819728"/>
            <a:ext cx="6211598" cy="662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>
                <a:solidFill>
                  <a:srgbClr val="405449"/>
                </a:solidFill>
                <a:latin typeface="Nobile" panose="02000503050000020004" pitchFamily="2" charset="0"/>
              </a:rPr>
              <a:t>Profitability differs markedly by region, suggesting varying cost structures, pricing strategies, or market dynamics.</a:t>
            </a:r>
            <a:endParaRPr lang="en-NG" sz="1200" dirty="0">
              <a:solidFill>
                <a:srgbClr val="405449"/>
              </a:solidFill>
              <a:latin typeface="Nobile" panose="02000503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998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55AEB-1CCA-C37B-A10D-1049877B2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46017-9C34-6B76-B10A-EB933BCD3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18385" y="173207"/>
            <a:ext cx="6755230" cy="700012"/>
          </a:xfrm>
        </p:spPr>
        <p:txBody>
          <a:bodyPr>
            <a:noAutofit/>
          </a:bodyPr>
          <a:lstStyle/>
          <a:p>
            <a:pPr algn="l"/>
            <a:r>
              <a:rPr lang="en-US" sz="4000" b="1" dirty="0">
                <a:solidFill>
                  <a:srgbClr val="405449"/>
                </a:solidFill>
                <a:latin typeface="Fraunces 72pt SuperSoft SemiBol" pitchFamily="2" charset="0"/>
              </a:rPr>
              <a:t>Product &amp; Customer Analysis</a:t>
            </a:r>
            <a:endParaRPr lang="en-NG" sz="40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B35CA27D-B8E9-AD01-C122-92A5FDEADEC4}"/>
              </a:ext>
            </a:extLst>
          </p:cNvPr>
          <p:cNvSpPr txBox="1">
            <a:spLocks/>
          </p:cNvSpPr>
          <p:nvPr/>
        </p:nvSpPr>
        <p:spPr>
          <a:xfrm>
            <a:off x="7356394" y="1893581"/>
            <a:ext cx="2812499" cy="3301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b="1" dirty="0">
                <a:solidFill>
                  <a:srgbClr val="405449"/>
                </a:solidFill>
                <a:latin typeface="Fraunces 72pt SuperSoft SemiBol" pitchFamily="2" charset="0"/>
              </a:rPr>
              <a:t>Technology Category</a:t>
            </a:r>
            <a:endParaRPr lang="en-NG" sz="16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823580C0-7811-A1C5-BC47-0D88AE7DAB15}"/>
              </a:ext>
            </a:extLst>
          </p:cNvPr>
          <p:cNvSpPr txBox="1">
            <a:spLocks/>
          </p:cNvSpPr>
          <p:nvPr/>
        </p:nvSpPr>
        <p:spPr>
          <a:xfrm>
            <a:off x="7327728" y="2294730"/>
            <a:ext cx="3736125" cy="111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dirty="0">
                <a:solidFill>
                  <a:srgbClr val="405449"/>
                </a:solidFill>
                <a:latin typeface="Nobile" panose="02000503050000020004" pitchFamily="2" charset="0"/>
              </a:rPr>
              <a:t>Leads in both total sales ($4.74M) and profit generation ($663.78K), driven by high-margin electronics and equipment.</a:t>
            </a:r>
            <a:endParaRPr lang="en-NG" sz="1400" dirty="0">
              <a:solidFill>
                <a:srgbClr val="405449"/>
              </a:solidFill>
              <a:latin typeface="Nobile" panose="02000503050000020004" pitchFamily="2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A05C747-89CB-4342-BC09-5B0BD14AEC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8926103"/>
              </p:ext>
            </p:extLst>
          </p:nvPr>
        </p:nvGraphicFramePr>
        <p:xfrm>
          <a:off x="3040267" y="627440"/>
          <a:ext cx="5722377" cy="35181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FF5F6D6D-03E0-5411-8BD1-86283C562BC2}"/>
              </a:ext>
            </a:extLst>
          </p:cNvPr>
          <p:cNvSpPr txBox="1">
            <a:spLocks/>
          </p:cNvSpPr>
          <p:nvPr/>
        </p:nvSpPr>
        <p:spPr>
          <a:xfrm>
            <a:off x="1729553" y="2883865"/>
            <a:ext cx="2812499" cy="3301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b="1" dirty="0">
                <a:solidFill>
                  <a:srgbClr val="405449"/>
                </a:solidFill>
                <a:latin typeface="Fraunces 72pt SuperSoft SemiBol" pitchFamily="2" charset="0"/>
              </a:rPr>
              <a:t>Furniture Category</a:t>
            </a:r>
            <a:endParaRPr lang="en-NG" sz="16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0B7AE40-8B83-71CE-62F5-9305AAC947EE}"/>
              </a:ext>
            </a:extLst>
          </p:cNvPr>
          <p:cNvSpPr txBox="1">
            <a:spLocks/>
          </p:cNvSpPr>
          <p:nvPr/>
        </p:nvSpPr>
        <p:spPr>
          <a:xfrm>
            <a:off x="504967" y="3213971"/>
            <a:ext cx="4037085" cy="111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400" dirty="0">
                <a:solidFill>
                  <a:srgbClr val="405449"/>
                </a:solidFill>
                <a:latin typeface="Nobile" panose="02000503050000020004" pitchFamily="2" charset="0"/>
              </a:rPr>
              <a:t>Moderate sales ($4.11M) with solid profit margin generation ($285.20K), showing consistent performance across all customer segments.</a:t>
            </a:r>
            <a:endParaRPr lang="en-NG" sz="1400" dirty="0">
              <a:solidFill>
                <a:srgbClr val="405449"/>
              </a:solidFill>
              <a:latin typeface="Nobile" panose="02000503050000020004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0554A87-E9B4-9CA2-F5C3-E1C1822A314B}"/>
              </a:ext>
            </a:extLst>
          </p:cNvPr>
          <p:cNvSpPr txBox="1">
            <a:spLocks/>
          </p:cNvSpPr>
          <p:nvPr/>
        </p:nvSpPr>
        <p:spPr>
          <a:xfrm>
            <a:off x="1729553" y="1371116"/>
            <a:ext cx="2812499" cy="3301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600" b="1" dirty="0">
                <a:solidFill>
                  <a:srgbClr val="405449"/>
                </a:solidFill>
                <a:latin typeface="Fraunces 72pt SuperSoft SemiBol" pitchFamily="2" charset="0"/>
              </a:rPr>
              <a:t>Office Supplies</a:t>
            </a:r>
            <a:endParaRPr lang="en-NG" sz="16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2274A7F-C108-C839-D6BF-26A24928981A}"/>
              </a:ext>
            </a:extLst>
          </p:cNvPr>
          <p:cNvSpPr txBox="1">
            <a:spLocks/>
          </p:cNvSpPr>
          <p:nvPr/>
        </p:nvSpPr>
        <p:spPr>
          <a:xfrm>
            <a:off x="504967" y="1701222"/>
            <a:ext cx="4037085" cy="111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400" dirty="0">
                <a:solidFill>
                  <a:srgbClr val="405449"/>
                </a:solidFill>
                <a:latin typeface="Nobile" panose="02000503050000020004" pitchFamily="2" charset="0"/>
              </a:rPr>
              <a:t>Lower Profit Impact despite moderate sales ($3.79M), suggesting opportunities to review pricing strategy and cost management.</a:t>
            </a:r>
            <a:endParaRPr lang="en-NG" sz="1400" dirty="0">
              <a:solidFill>
                <a:srgbClr val="405449"/>
              </a:solidFill>
              <a:latin typeface="Nobile" panose="02000503050000020004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E6B21B-CADC-3002-D60A-9ECF1FD5E33F}"/>
              </a:ext>
            </a:extLst>
          </p:cNvPr>
          <p:cNvSpPr txBox="1">
            <a:spLocks/>
          </p:cNvSpPr>
          <p:nvPr/>
        </p:nvSpPr>
        <p:spPr>
          <a:xfrm>
            <a:off x="504967" y="4726720"/>
            <a:ext cx="3536208" cy="3301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405449"/>
                </a:solidFill>
                <a:latin typeface="Fraunces 72pt SuperSoft SemiBol" pitchFamily="2" charset="0"/>
              </a:rPr>
              <a:t>Customer Segment Analysis</a:t>
            </a:r>
            <a:endParaRPr lang="en-NG" sz="20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4D3A332-503D-7095-F31E-BABEBB3509FA}"/>
              </a:ext>
            </a:extLst>
          </p:cNvPr>
          <p:cNvSpPr txBox="1">
            <a:spLocks/>
          </p:cNvSpPr>
          <p:nvPr/>
        </p:nvSpPr>
        <p:spPr>
          <a:xfrm>
            <a:off x="504967" y="5156778"/>
            <a:ext cx="1235903" cy="3301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b="1" dirty="0">
                <a:solidFill>
                  <a:srgbClr val="405449"/>
                </a:solidFill>
                <a:latin typeface="Fraunces 72pt SuperSoft SemiBol" pitchFamily="2" charset="0"/>
              </a:rPr>
              <a:t>Consumer</a:t>
            </a:r>
            <a:endParaRPr lang="en-NG" sz="16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3FCF6545-A195-4E81-BC5E-56030AE458C7}"/>
              </a:ext>
            </a:extLst>
          </p:cNvPr>
          <p:cNvSpPr txBox="1">
            <a:spLocks/>
          </p:cNvSpPr>
          <p:nvPr/>
        </p:nvSpPr>
        <p:spPr>
          <a:xfrm>
            <a:off x="504967" y="5586836"/>
            <a:ext cx="3903260" cy="6437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dirty="0">
                <a:solidFill>
                  <a:srgbClr val="405449"/>
                </a:solidFill>
                <a:latin typeface="Nobile" panose="02000503050000020004" pitchFamily="2" charset="0"/>
              </a:rPr>
              <a:t>Highest revenue contributor with $6.51M in sales, representing 51.48% of total revenue.</a:t>
            </a:r>
            <a:endParaRPr lang="en-NG" sz="1400" dirty="0">
              <a:solidFill>
                <a:srgbClr val="405449"/>
              </a:solidFill>
              <a:latin typeface="Nobile" panose="02000503050000020004" pitchFamily="2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6C90222-3D55-AB26-0EAF-3DAD0E7C3278}"/>
              </a:ext>
            </a:extLst>
          </p:cNvPr>
          <p:cNvSpPr txBox="1">
            <a:spLocks/>
          </p:cNvSpPr>
          <p:nvPr/>
        </p:nvSpPr>
        <p:spPr>
          <a:xfrm>
            <a:off x="4324830" y="5136570"/>
            <a:ext cx="1235903" cy="3301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b="1" dirty="0">
                <a:solidFill>
                  <a:srgbClr val="405449"/>
                </a:solidFill>
                <a:latin typeface="Fraunces 72pt SuperSoft SemiBol" pitchFamily="2" charset="0"/>
              </a:rPr>
              <a:t>Corporate</a:t>
            </a:r>
            <a:endParaRPr lang="en-NG" sz="16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16E542D9-1B2C-F86C-D0F0-E0345E978270}"/>
              </a:ext>
            </a:extLst>
          </p:cNvPr>
          <p:cNvSpPr txBox="1">
            <a:spLocks/>
          </p:cNvSpPr>
          <p:nvPr/>
        </p:nvSpPr>
        <p:spPr>
          <a:xfrm>
            <a:off x="4324829" y="5566628"/>
            <a:ext cx="4218669" cy="6437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dirty="0">
                <a:solidFill>
                  <a:srgbClr val="405449"/>
                </a:solidFill>
                <a:latin typeface="Nobile" panose="02000503050000020004" pitchFamily="2" charset="0"/>
              </a:rPr>
              <a:t>Second-largest segment with $3.82M in sales, demonstrating strong B2B performance.</a:t>
            </a:r>
            <a:endParaRPr lang="en-NG" sz="1400" dirty="0">
              <a:solidFill>
                <a:srgbClr val="405449"/>
              </a:solidFill>
              <a:latin typeface="Nobile" panose="02000503050000020004" pitchFamily="2" charset="0"/>
            </a:endParaRP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44B3C4F9-B40F-B5FB-7558-52F1B191683D}"/>
              </a:ext>
            </a:extLst>
          </p:cNvPr>
          <p:cNvSpPr txBox="1">
            <a:spLocks/>
          </p:cNvSpPr>
          <p:nvPr/>
        </p:nvSpPr>
        <p:spPr>
          <a:xfrm>
            <a:off x="8577838" y="5155230"/>
            <a:ext cx="1466914" cy="3301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b="1" dirty="0">
                <a:solidFill>
                  <a:srgbClr val="405449"/>
                </a:solidFill>
                <a:latin typeface="Fraunces 72pt SuperSoft SemiBol" pitchFamily="2" charset="0"/>
              </a:rPr>
              <a:t>Home Office</a:t>
            </a:r>
            <a:endParaRPr lang="en-NG" sz="16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32A75D33-59A7-B2E1-1881-CC13A5AA5708}"/>
              </a:ext>
            </a:extLst>
          </p:cNvPr>
          <p:cNvSpPr txBox="1">
            <a:spLocks/>
          </p:cNvSpPr>
          <p:nvPr/>
        </p:nvSpPr>
        <p:spPr>
          <a:xfrm>
            <a:off x="8501824" y="5586836"/>
            <a:ext cx="3535501" cy="6437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dirty="0">
                <a:solidFill>
                  <a:srgbClr val="405449"/>
                </a:solidFill>
                <a:latin typeface="Nobile" panose="02000503050000020004" pitchFamily="2" charset="0"/>
              </a:rPr>
              <a:t>Niche segment with $2.31M in sales, showing steady growth potential.</a:t>
            </a:r>
            <a:endParaRPr lang="en-NG" sz="1400" dirty="0">
              <a:solidFill>
                <a:srgbClr val="405449"/>
              </a:solidFill>
              <a:latin typeface="Nobile" panose="02000503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324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458BA-5121-AC90-80FC-1E0E0EE8F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91D59-DEA0-1DB7-614F-360A369868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302" y="216220"/>
            <a:ext cx="9857396" cy="70001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405449"/>
                </a:solidFill>
                <a:latin typeface="Fraunces 72pt SuperSoft SemiBol" pitchFamily="2" charset="0"/>
              </a:rPr>
              <a:t>Strategic Recommendation &amp; Conclusion</a:t>
            </a:r>
            <a:endParaRPr lang="en-NG" sz="40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36A8B07-DA40-F4E0-5FA5-695997FCDA31}"/>
              </a:ext>
            </a:extLst>
          </p:cNvPr>
          <p:cNvSpPr txBox="1">
            <a:spLocks/>
          </p:cNvSpPr>
          <p:nvPr/>
        </p:nvSpPr>
        <p:spPr>
          <a:xfrm>
            <a:off x="504967" y="1552488"/>
            <a:ext cx="3425588" cy="3301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b="1" dirty="0">
                <a:solidFill>
                  <a:srgbClr val="405449"/>
                </a:solidFill>
                <a:latin typeface="Fraunces 72pt SuperSoft SemiBol" pitchFamily="2" charset="0"/>
              </a:rPr>
              <a:t>Prioritize High-Profit Regions</a:t>
            </a:r>
            <a:endParaRPr lang="en-NG" sz="16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21A3B14-F355-A117-E771-5DEA32CDBB59}"/>
              </a:ext>
            </a:extLst>
          </p:cNvPr>
          <p:cNvSpPr txBox="1">
            <a:spLocks/>
          </p:cNvSpPr>
          <p:nvPr/>
        </p:nvSpPr>
        <p:spPr>
          <a:xfrm>
            <a:off x="504968" y="1892460"/>
            <a:ext cx="5328000" cy="795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>
                <a:solidFill>
                  <a:srgbClr val="405449"/>
                </a:solidFill>
                <a:latin typeface="Nobile" panose="02000503050000020004" pitchFamily="2" charset="0"/>
              </a:rPr>
              <a:t>Focus expansion and targeted marketing campaign on Central and North regions. Allocate additional resources to replicate successful strategies in underperforming areas.</a:t>
            </a:r>
            <a:endParaRPr lang="en-NG" sz="1100" dirty="0">
              <a:solidFill>
                <a:srgbClr val="405449"/>
              </a:solidFill>
              <a:latin typeface="Nobile" panose="02000503050000020004" pitchFamily="2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D432821-0DF1-4F16-F1C2-69A7D64B79E7}"/>
              </a:ext>
            </a:extLst>
          </p:cNvPr>
          <p:cNvSpPr txBox="1">
            <a:spLocks/>
          </p:cNvSpPr>
          <p:nvPr/>
        </p:nvSpPr>
        <p:spPr>
          <a:xfrm>
            <a:off x="561774" y="4407423"/>
            <a:ext cx="1760561" cy="3301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b="1" dirty="0">
                <a:solidFill>
                  <a:srgbClr val="405449"/>
                </a:solidFill>
                <a:latin typeface="Fraunces 72pt SuperSoft SemiBol" pitchFamily="2" charset="0"/>
              </a:rPr>
              <a:t>Key Takeaways</a:t>
            </a:r>
            <a:endParaRPr lang="en-NG" sz="16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8A7A2EAB-E3EA-1312-A3E0-C5EDB6370C54}"/>
              </a:ext>
            </a:extLst>
          </p:cNvPr>
          <p:cNvSpPr/>
          <p:nvPr/>
        </p:nvSpPr>
        <p:spPr>
          <a:xfrm flipV="1">
            <a:off x="504967" y="1486131"/>
            <a:ext cx="5328000" cy="2880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953A2D78-DC8D-9432-C996-3873AAC12628}"/>
              </a:ext>
            </a:extLst>
          </p:cNvPr>
          <p:cNvSpPr/>
          <p:nvPr/>
        </p:nvSpPr>
        <p:spPr>
          <a:xfrm>
            <a:off x="504967" y="4313680"/>
            <a:ext cx="10800000" cy="18000"/>
          </a:xfrm>
          <a:prstGeom prst="rect">
            <a:avLst/>
          </a:prstGeom>
          <a:solidFill>
            <a:srgbClr val="405449">
              <a:alpha val="50000"/>
            </a:srgbClr>
          </a:solidFill>
          <a:ln/>
        </p:spPr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5A6D01AD-3B99-12F1-3ADC-BADADF0A12C4}"/>
              </a:ext>
            </a:extLst>
          </p:cNvPr>
          <p:cNvSpPr/>
          <p:nvPr/>
        </p:nvSpPr>
        <p:spPr>
          <a:xfrm flipV="1">
            <a:off x="5976967" y="1486131"/>
            <a:ext cx="5328000" cy="2880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91812ED7-5FAF-BA15-334E-E1DB5E054F7D}"/>
              </a:ext>
            </a:extLst>
          </p:cNvPr>
          <p:cNvSpPr/>
          <p:nvPr/>
        </p:nvSpPr>
        <p:spPr>
          <a:xfrm flipV="1">
            <a:off x="493537" y="2963155"/>
            <a:ext cx="5328000" cy="2880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EE530041-1069-4CB4-49F1-8EEC935C28A6}"/>
              </a:ext>
            </a:extLst>
          </p:cNvPr>
          <p:cNvSpPr/>
          <p:nvPr/>
        </p:nvSpPr>
        <p:spPr>
          <a:xfrm flipV="1">
            <a:off x="6016645" y="2963155"/>
            <a:ext cx="5328000" cy="2880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7DA79FFF-19C8-E9AC-148B-F75F709BFFAF}"/>
              </a:ext>
            </a:extLst>
          </p:cNvPr>
          <p:cNvSpPr txBox="1">
            <a:spLocks/>
          </p:cNvSpPr>
          <p:nvPr/>
        </p:nvSpPr>
        <p:spPr>
          <a:xfrm>
            <a:off x="5976967" y="1542622"/>
            <a:ext cx="3425588" cy="3301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b="1" dirty="0">
                <a:solidFill>
                  <a:srgbClr val="405449"/>
                </a:solidFill>
                <a:latin typeface="Fraunces 72pt SuperSoft SemiBol" pitchFamily="2" charset="0"/>
              </a:rPr>
              <a:t>Optimize Pricing Strategy</a:t>
            </a:r>
            <a:endParaRPr lang="en-NG" sz="16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ADC4EF7D-C28B-D195-D48D-048DEB894F0F}"/>
              </a:ext>
            </a:extLst>
          </p:cNvPr>
          <p:cNvSpPr txBox="1">
            <a:spLocks/>
          </p:cNvSpPr>
          <p:nvPr/>
        </p:nvSpPr>
        <p:spPr>
          <a:xfrm>
            <a:off x="5976968" y="1882594"/>
            <a:ext cx="5710064" cy="795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>
                <a:solidFill>
                  <a:srgbClr val="405449"/>
                </a:solidFill>
                <a:latin typeface="Nobile" panose="02000503050000020004" pitchFamily="2" charset="0"/>
              </a:rPr>
              <a:t>Conduct detailed review of pricing and cost structure in Office Supplies category. Explore margin improvement opportunities through vendor negotiations or product mix adjustments.</a:t>
            </a: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59805110-F12A-A287-C815-EEB243C33038}"/>
              </a:ext>
            </a:extLst>
          </p:cNvPr>
          <p:cNvSpPr/>
          <p:nvPr/>
        </p:nvSpPr>
        <p:spPr>
          <a:xfrm>
            <a:off x="561774" y="1241876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250" dirty="0"/>
          </a:p>
        </p:txBody>
      </p:sp>
      <p:sp>
        <p:nvSpPr>
          <p:cNvPr id="48" name="Text 1">
            <a:extLst>
              <a:ext uri="{FF2B5EF4-FFF2-40B4-BE49-F238E27FC236}">
                <a16:creationId xmlns:a16="http://schemas.microsoft.com/office/drawing/2014/main" id="{5792C6D5-25E1-40CF-78A0-23037961A9A9}"/>
              </a:ext>
            </a:extLst>
          </p:cNvPr>
          <p:cNvSpPr/>
          <p:nvPr/>
        </p:nvSpPr>
        <p:spPr>
          <a:xfrm>
            <a:off x="6016645" y="1241876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250" dirty="0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1B80C377-D438-5C8A-AB92-29F5B1B6718B}"/>
              </a:ext>
            </a:extLst>
          </p:cNvPr>
          <p:cNvSpPr/>
          <p:nvPr/>
        </p:nvSpPr>
        <p:spPr>
          <a:xfrm>
            <a:off x="561774" y="2746203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250" dirty="0"/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B35CBE55-2280-81DB-15DD-D0B916320F5F}"/>
              </a:ext>
            </a:extLst>
          </p:cNvPr>
          <p:cNvSpPr/>
          <p:nvPr/>
        </p:nvSpPr>
        <p:spPr>
          <a:xfrm>
            <a:off x="6002245" y="2741326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250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6703CBA0-AA6E-EF90-CB91-D503D822CBFB}"/>
              </a:ext>
            </a:extLst>
          </p:cNvPr>
          <p:cNvSpPr txBox="1">
            <a:spLocks/>
          </p:cNvSpPr>
          <p:nvPr/>
        </p:nvSpPr>
        <p:spPr>
          <a:xfrm>
            <a:off x="561774" y="3101089"/>
            <a:ext cx="3425588" cy="3301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b="1" dirty="0">
                <a:solidFill>
                  <a:srgbClr val="405449"/>
                </a:solidFill>
                <a:latin typeface="Fraunces 72pt SuperSoft SemiBol" pitchFamily="2" charset="0"/>
              </a:rPr>
              <a:t>Target Premium Segments</a:t>
            </a:r>
            <a:endParaRPr lang="en-NG" sz="16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52" name="Subtitle 2">
            <a:extLst>
              <a:ext uri="{FF2B5EF4-FFF2-40B4-BE49-F238E27FC236}">
                <a16:creationId xmlns:a16="http://schemas.microsoft.com/office/drawing/2014/main" id="{EAF7ADE3-4F63-A352-25A8-DB1F4C361EC4}"/>
              </a:ext>
            </a:extLst>
          </p:cNvPr>
          <p:cNvSpPr txBox="1">
            <a:spLocks/>
          </p:cNvSpPr>
          <p:nvPr/>
        </p:nvSpPr>
        <p:spPr>
          <a:xfrm>
            <a:off x="561775" y="3441061"/>
            <a:ext cx="5710064" cy="795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>
                <a:solidFill>
                  <a:srgbClr val="405449"/>
                </a:solidFill>
                <a:latin typeface="Nobile" panose="02000503050000020004" pitchFamily="2" charset="0"/>
              </a:rPr>
              <a:t>Intensify promotional efforts on Consumer segment while developing retention programs for Corporate clients. Tailor messaging to address specific segment needs.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4A484909-5A32-75D0-80EA-328DFED0C736}"/>
              </a:ext>
            </a:extLst>
          </p:cNvPr>
          <p:cNvSpPr txBox="1">
            <a:spLocks/>
          </p:cNvSpPr>
          <p:nvPr/>
        </p:nvSpPr>
        <p:spPr>
          <a:xfrm>
            <a:off x="5976967" y="3098894"/>
            <a:ext cx="3425588" cy="3301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b="1" dirty="0">
                <a:solidFill>
                  <a:srgbClr val="405449"/>
                </a:solidFill>
                <a:latin typeface="Fraunces 72pt SuperSoft SemiBol" pitchFamily="2" charset="0"/>
              </a:rPr>
              <a:t>Streamline Inventory Management</a:t>
            </a:r>
            <a:endParaRPr lang="en-NG" sz="1600" b="1" dirty="0">
              <a:solidFill>
                <a:srgbClr val="405449"/>
              </a:solidFill>
              <a:latin typeface="Fraunces 72pt SuperSoft SemiBol" pitchFamily="2" charset="0"/>
            </a:endParaRPr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D6CBA0F4-77F3-5F45-5CFC-868BB4EE2473}"/>
              </a:ext>
            </a:extLst>
          </p:cNvPr>
          <p:cNvSpPr txBox="1">
            <a:spLocks/>
          </p:cNvSpPr>
          <p:nvPr/>
        </p:nvSpPr>
        <p:spPr>
          <a:xfrm>
            <a:off x="5976968" y="3438866"/>
            <a:ext cx="5710064" cy="795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>
                <a:solidFill>
                  <a:srgbClr val="405449"/>
                </a:solidFill>
                <a:latin typeface="Nobile" panose="02000503050000020004" pitchFamily="2" charset="0"/>
              </a:rPr>
              <a:t>Optimize stock levels for Technology and Furniture categories to maximize turnover. Reduce holding costs for lower-margin Office Supplies through just-in-time ordering,</a:t>
            </a:r>
          </a:p>
        </p:txBody>
      </p:sp>
      <p:sp>
        <p:nvSpPr>
          <p:cNvPr id="55" name="Shape 22">
            <a:extLst>
              <a:ext uri="{FF2B5EF4-FFF2-40B4-BE49-F238E27FC236}">
                <a16:creationId xmlns:a16="http://schemas.microsoft.com/office/drawing/2014/main" id="{9CCCD562-3858-C111-C40C-E42C1122910C}"/>
              </a:ext>
            </a:extLst>
          </p:cNvPr>
          <p:cNvSpPr/>
          <p:nvPr/>
        </p:nvSpPr>
        <p:spPr>
          <a:xfrm>
            <a:off x="493537" y="4737529"/>
            <a:ext cx="18000" cy="90000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n-NG" dirty="0"/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9D40F474-A6DD-C9DD-627E-4350217E3C80}"/>
              </a:ext>
            </a:extLst>
          </p:cNvPr>
          <p:cNvSpPr/>
          <p:nvPr/>
        </p:nvSpPr>
        <p:spPr>
          <a:xfrm>
            <a:off x="641129" y="4840269"/>
            <a:ext cx="8545052" cy="276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Profitability by Region: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Central and North generate the highest returns, while some high-sales regions yield lower margins.</a:t>
            </a:r>
            <a:endParaRPr lang="en-US" sz="1100" dirty="0"/>
          </a:p>
        </p:txBody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3052F623-ECA0-DE59-FDBB-A49BE3FF0605}"/>
              </a:ext>
            </a:extLst>
          </p:cNvPr>
          <p:cNvSpPr/>
          <p:nvPr/>
        </p:nvSpPr>
        <p:spPr>
          <a:xfrm>
            <a:off x="641129" y="5116375"/>
            <a:ext cx="8545052" cy="276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Product Performance: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Technology leads profitability, Office Supplies present improvement opportunities.</a:t>
            </a:r>
            <a:endParaRPr lang="en-US" sz="1100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172142AA-9614-F07A-40C6-6BF02825C751}"/>
              </a:ext>
            </a:extLst>
          </p:cNvPr>
          <p:cNvSpPr/>
          <p:nvPr/>
        </p:nvSpPr>
        <p:spPr>
          <a:xfrm>
            <a:off x="621269" y="5406169"/>
            <a:ext cx="8545052" cy="276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 Insights: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Consumer segment contributes the highest revenue compared to Corporate and Home Office.</a:t>
            </a:r>
            <a:endParaRPr lang="en-US" sz="1100" dirty="0"/>
          </a:p>
        </p:txBody>
      </p:sp>
      <p:sp>
        <p:nvSpPr>
          <p:cNvPr id="59" name="Shape 23">
            <a:extLst>
              <a:ext uri="{FF2B5EF4-FFF2-40B4-BE49-F238E27FC236}">
                <a16:creationId xmlns:a16="http://schemas.microsoft.com/office/drawing/2014/main" id="{D22B4FBA-6BDA-E3DB-AD44-8F46014E64D9}"/>
              </a:ext>
            </a:extLst>
          </p:cNvPr>
          <p:cNvSpPr/>
          <p:nvPr/>
        </p:nvSpPr>
        <p:spPr>
          <a:xfrm>
            <a:off x="493537" y="5972069"/>
            <a:ext cx="10934431" cy="628112"/>
          </a:xfrm>
          <a:prstGeom prst="roundRect">
            <a:avLst>
              <a:gd name="adj" fmla="val 18753"/>
            </a:avLst>
          </a:prstGeom>
          <a:solidFill>
            <a:srgbClr val="CCE6D1"/>
          </a:solidFill>
          <a:ln/>
        </p:spPr>
      </p:sp>
      <p:sp>
        <p:nvSpPr>
          <p:cNvPr id="61" name="Text 24">
            <a:extLst>
              <a:ext uri="{FF2B5EF4-FFF2-40B4-BE49-F238E27FC236}">
                <a16:creationId xmlns:a16="http://schemas.microsoft.com/office/drawing/2014/main" id="{3DD238A2-5CBE-C80C-4E17-D54E57443C3C}"/>
              </a:ext>
            </a:extLst>
          </p:cNvPr>
          <p:cNvSpPr/>
          <p:nvPr/>
        </p:nvSpPr>
        <p:spPr>
          <a:xfrm>
            <a:off x="737763" y="6069859"/>
            <a:ext cx="10478407" cy="43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Conclusion:</a:t>
            </a:r>
            <a:r>
              <a:rPr lang="en-US" sz="12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Data-driven strategic decisions can significantly improve profitability and operational efficiency. Continued monitoring of these KPIs will enable proactive business optimization.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52650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628</Words>
  <Application>Microsoft Office PowerPoint</Application>
  <PresentationFormat>Widescreen</PresentationFormat>
  <Paragraphs>70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Fraunces 72pt SuperSoft SemiBol</vt:lpstr>
      <vt:lpstr>Fraunces Light</vt:lpstr>
      <vt:lpstr>Nobile</vt:lpstr>
      <vt:lpstr>Office Theme</vt:lpstr>
      <vt:lpstr>Global Superstore Sales Performance Analysis</vt:lpstr>
      <vt:lpstr>Business Objective &amp; Dataset Overview</vt:lpstr>
      <vt:lpstr>Executive Summary: Key Performance Indicators</vt:lpstr>
      <vt:lpstr>Sales &amp; Profit Performance Analysis</vt:lpstr>
      <vt:lpstr>Product &amp; Customer Analysis</vt:lpstr>
      <vt:lpstr>Strategic Recommendation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Oluwaseyi Opeyemi</dc:creator>
  <cp:lastModifiedBy>Oluwaseyi Opeyemi</cp:lastModifiedBy>
  <cp:revision>4</cp:revision>
  <dcterms:created xsi:type="dcterms:W3CDTF">2026-02-08T02:28:49Z</dcterms:created>
  <dcterms:modified xsi:type="dcterms:W3CDTF">2026-02-08T17:44:15Z</dcterms:modified>
</cp:coreProperties>
</file>